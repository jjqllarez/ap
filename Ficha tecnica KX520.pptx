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7772400" cy="1005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3" d="100"/>
          <a:sy n="53" d="100"/>
        </p:scale>
        <p:origin x="161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077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E1F82-178A-5A53-3F24-9768C62B8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410696-762F-BD87-BA92-FD4760E6CC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EBA90-CD38-870B-1F98-FD84FC06D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F6CB2-A34D-4AD9-9A11-9325CEEF8510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5213C-399F-74EF-D44F-79A95878E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7583F-9568-CD4C-369F-07D2FBB8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56A79-3B27-4B92-811D-6E2D15A8E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218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A2FE5-69EE-4D59-FDAF-FD94CABB7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51C32-C207-D884-4E84-2FB60F612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9C399-E9B8-3D49-4020-E7BE9BD7C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F6CB2-A34D-4AD9-9A11-9325CEEF8510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B366C-12F9-5EC5-7854-6AF1F1078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6DA48-6C36-E3BC-5AD5-2731C0920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56A79-3B27-4B92-811D-6E2D15A8E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844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C83E7-BB05-6C35-02A6-A5297CB8C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45712B-2D2F-AAB9-64A1-415B41D6F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BDD1E-C893-6B7B-8491-EABD95D37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F6CB2-A34D-4AD9-9A11-9325CEEF8510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D58FC-5284-F36F-A0F3-E6E15AFC8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B8484-194F-AA1D-C072-39B42A9FC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56A79-3B27-4B92-811D-6E2D15A8E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44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3C48B-A6F8-8137-846D-9EAF5D2DB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BFA66-8666-63EF-B1C8-9F909539C2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D86C9-0E45-85C4-1655-4158ADA2B6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60D90-EE47-0B13-A3D5-0C19CABE4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F6CB2-A34D-4AD9-9A11-9325CEEF8510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E29151-9C9B-0980-1419-07AFC9395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EB7301-8E06-13EF-A9FB-07E85E3D3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56A79-3B27-4B92-811D-6E2D15A8E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342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16EFA-3164-C1E9-FA6A-A06838055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5157A-DA5C-C78A-5DFD-52A94ACD4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B98DA-48F9-E3C2-179E-E44BF2B8B2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3F1234-2C67-C2AD-94F7-CA85FB3E34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91B5F-2282-24AD-256A-EE9759E1C7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BA7BC5-F978-7BC6-EBC9-0C65A6478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F6CB2-A34D-4AD9-9A11-9325CEEF8510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B5EBD5-6A0D-9401-F18D-6B8B4C614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408438-DA21-682D-7FE1-03EDB0A93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56A79-3B27-4B92-811D-6E2D15A8E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281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0CA7D-63AB-9E26-FF42-E40004EF8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89B5BC-5FC9-E639-BB0C-DA2C1AE4C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F6CB2-A34D-4AD9-9A11-9325CEEF8510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1D79E0-9FAD-C25A-7FFD-3AE823F12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A7AF73-682F-1F13-B0F5-145D3D2EF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56A79-3B27-4B92-811D-6E2D15A8E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424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CABC4E-C49F-AE1C-5263-71D370E14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F6CB2-A34D-4AD9-9A11-9325CEEF8510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01B4C0-0B35-23E4-AB03-37AC1D46D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0D43E-B8F5-BA96-FBC4-A4C6BE16E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56A79-3B27-4B92-811D-6E2D15A8E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477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BFC2E-DCD1-BBB3-F9A7-3F8C720E7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51D24-5AFB-BFCF-A6D9-FB83C9709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419F80-03FA-3765-D517-996F300EDC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16449-3691-57E0-8ED1-F31E94AC5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F6CB2-A34D-4AD9-9A11-9325CEEF8510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C46856-E1B1-C1FD-E06A-A071885D3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7A963A-B264-3A53-4D9A-F7462FFE5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56A79-3B27-4B92-811D-6E2D15A8E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19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1C790-3873-371D-8E46-3DD9D666C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574444-047D-722E-E484-2B87B09D158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546AB7-1C97-55A0-10BD-177BDCEC3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CD783-8511-7297-F48B-AEC9B905C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F6CB2-A34D-4AD9-9A11-9325CEEF8510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D6014-4C40-AA83-D775-D7485C7B2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93223-FC10-0723-70F7-67F0020DC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56A79-3B27-4B92-811D-6E2D15A8E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91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D7B4F-2207-6352-8B03-6964D0462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9C1963-1E8C-AE3A-719E-4D140AF398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9FA10-0FE6-1BFC-6BA4-83621A77F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F6CB2-A34D-4AD9-9A11-9325CEEF8510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C609B-1994-0356-4A99-C85E0A5F7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503E8-E732-C60B-D2F4-0494EEFB9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56A79-3B27-4B92-811D-6E2D15A8E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0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09BB65-6719-D45A-1518-310159290A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25B85A-A0DA-A6B4-1615-F7ABE2EE79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D3041-B59A-7620-AF65-147537D0D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F6CB2-A34D-4AD9-9A11-9325CEEF8510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1DE02-53AF-6A87-9177-B83FEA3C8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EDF91-4A14-A77E-F4D9-FEC420123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56A79-3B27-4B92-811D-6E2D15A8E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25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7DB8CE-0451-CC13-F29B-1D82E32B4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9E020-7AD8-5D22-C7ED-888D79D9B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B2D94-FC80-4542-C95D-F491D164B8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1F6CB2-A34D-4AD9-9A11-9325CEEF8510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535A5-23E3-7F16-BF6E-7F8D211F88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8678F-884C-67E8-D548-4DFDA19274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656A79-3B27-4B92-811D-6E2D15A8E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958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planchartglobal.com/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600067" y="64559"/>
            <a:ext cx="1688628" cy="361534"/>
          </a:xfrm>
          <a:prstGeom prst="rect">
            <a:avLst/>
          </a:prstGeom>
        </p:spPr>
      </p:pic>
      <p:pic>
        <p:nvPicPr>
          <p:cNvPr id="24" name="Picture 23" descr="vr210-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18" y="1838667"/>
            <a:ext cx="2428520" cy="22234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35499" y="154943"/>
            <a:ext cx="4892697" cy="38735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33" b="1">
                <a:solidFill>
                  <a:srgbClr val="000000"/>
                </a:solidFill>
                <a:latin typeface="Arial"/>
              </a:defRPr>
            </a:pPr>
            <a:r>
              <a:t>DONGFENG VR210 · 12 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27153" y="451917"/>
            <a:ext cx="1537705" cy="21950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118"/>
              </a:lnSpc>
              <a:spcBef>
                <a:spcPts val="0"/>
              </a:spcBef>
              <a:spcAft>
                <a:spcPts val="0"/>
              </a:spcAft>
              <a:defRPr sz="915" b="0">
                <a:solidFill>
                  <a:srgbClr val="000000"/>
                </a:solidFill>
                <a:latin typeface="Arial"/>
              </a:defRPr>
            </a:pPr>
            <a:r>
              <a:rPr lang="en-US"/>
              <a:t>RIF</a:t>
            </a:r>
            <a:r>
              <a:t>:</a:t>
            </a:r>
            <a:r>
              <a:rPr lang="en-US"/>
              <a:t> J-507655245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499" y="684332"/>
            <a:ext cx="3704471" cy="76438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352"/>
              </a:lnSpc>
              <a:spcBef>
                <a:spcPts val="0"/>
              </a:spcBef>
              <a:spcAft>
                <a:spcPts val="0"/>
              </a:spcAft>
              <a:defRPr sz="965" b="0">
                <a:solidFill>
                  <a:srgbClr val="000000"/>
                </a:solidFill>
                <a:latin typeface="Arial"/>
              </a:defRPr>
            </a:pPr>
            <a:r>
              <a:rPr lang="en-US"/>
              <a:t>FICHA TÉCNICA</a:t>
            </a:r>
          </a:p>
          <a:p>
            <a:pPr>
              <a:lnSpc>
                <a:spcPts val="1352"/>
              </a:lnSpc>
              <a:spcBef>
                <a:spcPts val="0"/>
              </a:spcBef>
              <a:spcAft>
                <a:spcPts val="0"/>
              </a:spcAft>
              <a:defRPr sz="965" b="0">
                <a:solidFill>
                  <a:srgbClr val="000000"/>
                </a:solidFill>
                <a:latin typeface="Arial"/>
              </a:defRPr>
            </a:pPr>
            <a:r>
              <a:rPr lang="en-US"/>
              <a:t>Vehículo: </a:t>
            </a:r>
            <a:r>
              <a:t>Carga</a:t>
            </a:r>
            <a:r>
              <a:rPr lang="es-ES"/>
              <a:t>   Marca: DONGFENG   Modelo: VR210</a:t>
            </a:r>
          </a:p>
          <a:p>
            <a:pPr>
              <a:lnSpc>
                <a:spcPts val="1352"/>
              </a:lnSpc>
              <a:spcBef>
                <a:spcPts val="0"/>
              </a:spcBef>
              <a:spcAft>
                <a:spcPts val="0"/>
              </a:spcAft>
              <a:defRPr sz="965" b="0">
                <a:solidFill>
                  <a:srgbClr val="000000"/>
                </a:solidFill>
                <a:latin typeface="Arial"/>
              </a:defRPr>
            </a:pPr>
            <a:r>
              <a:rPr lang="es-ES"/>
              <a:t>Versión: DFH1200B350-KD7E-965-0003</a:t>
            </a:r>
          </a:p>
          <a:p>
            <a:pPr>
              <a:lnSpc>
                <a:spcPts val="1352"/>
              </a:lnSpc>
              <a:spcBef>
                <a:spcPts val="0"/>
              </a:spcBef>
              <a:spcAft>
                <a:spcPts val="0"/>
              </a:spcAft>
              <a:defRPr sz="965" b="0">
                <a:solidFill>
                  <a:srgbClr val="000000"/>
                </a:solidFill>
                <a:latin typeface="Arial"/>
              </a:defRPr>
            </a:pPr>
            <a:r>
              <a:rPr lang="es-ES"/>
              <a:t>Cabina: Sencilla con camarote   Tracción: 4X2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7928" y="1601080"/>
            <a:ext cx="3424888" cy="2711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525"/>
              </a:lnSpc>
              <a:spcBef>
                <a:spcPts val="0"/>
              </a:spcBef>
              <a:spcAft>
                <a:spcPts val="0"/>
              </a:spcAft>
              <a:defRPr sz="1220" b="1">
                <a:solidFill>
                  <a:srgbClr val="D71920"/>
                </a:solidFill>
                <a:latin typeface="Arial"/>
              </a:defRPr>
            </a:pPr>
            <a:r>
              <a:rPr lang="en-US"/>
              <a:t>MOTOR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7928" y="1898054"/>
            <a:ext cx="3424888" cy="19664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352"/>
              </a:lnSpc>
              <a:spcBef>
                <a:spcPts val="0"/>
              </a:spcBef>
              <a:spcAft>
                <a:spcPts val="0"/>
              </a:spcAft>
              <a:defRPr sz="1118" b="0">
                <a:solidFill>
                  <a:srgbClr val="000000"/>
                </a:solidFill>
                <a:latin typeface="Arial"/>
              </a:defRPr>
            </a:pPr>
            <a:r>
              <a:rPr lang="en-US"/>
              <a:t>Tipo: B210 33 / Marca Cummins 6BT</a:t>
            </a:r>
          </a:p>
          <a:p>
            <a:pPr>
              <a:lnSpc>
                <a:spcPts val="1352"/>
              </a:lnSpc>
              <a:spcBef>
                <a:spcPts val="0"/>
              </a:spcBef>
              <a:spcAft>
                <a:spcPts val="0"/>
              </a:spcAft>
              <a:defRPr sz="1118" b="0">
                <a:solidFill>
                  <a:srgbClr val="000000"/>
                </a:solidFill>
                <a:latin typeface="Arial"/>
              </a:defRPr>
            </a:pPr>
            <a:r>
              <a:rPr lang="en-US"/>
              <a:t>Admisión: Turbo e intercooler</a:t>
            </a:r>
          </a:p>
          <a:p>
            <a:pPr>
              <a:lnSpc>
                <a:spcPts val="1352"/>
              </a:lnSpc>
              <a:spcBef>
                <a:spcPts val="0"/>
              </a:spcBef>
              <a:spcAft>
                <a:spcPts val="0"/>
              </a:spcAft>
              <a:defRPr sz="1118" b="0">
                <a:solidFill>
                  <a:srgbClr val="000000"/>
                </a:solidFill>
                <a:latin typeface="Arial"/>
              </a:defRPr>
            </a:pPr>
            <a:r>
              <a:rPr lang="en-US"/>
              <a:t>Inyección: Directa con bomba mecánica</a:t>
            </a:r>
          </a:p>
          <a:p>
            <a:pPr>
              <a:lnSpc>
                <a:spcPts val="1352"/>
              </a:lnSpc>
              <a:spcBef>
                <a:spcPts val="0"/>
              </a:spcBef>
              <a:spcAft>
                <a:spcPts val="0"/>
              </a:spcAft>
              <a:defRPr sz="1118" b="0">
                <a:solidFill>
                  <a:srgbClr val="000000"/>
                </a:solidFill>
                <a:latin typeface="Arial"/>
              </a:defRPr>
            </a:pPr>
            <a:r>
              <a:rPr lang="en-US"/>
              <a:t>Número de cilindros: 6</a:t>
            </a:r>
          </a:p>
          <a:p>
            <a:pPr>
              <a:lnSpc>
                <a:spcPts val="1352"/>
              </a:lnSpc>
              <a:spcBef>
                <a:spcPts val="0"/>
              </a:spcBef>
              <a:spcAft>
                <a:spcPts val="0"/>
              </a:spcAft>
              <a:defRPr sz="1118" b="0">
                <a:solidFill>
                  <a:srgbClr val="000000"/>
                </a:solidFill>
                <a:latin typeface="Arial"/>
              </a:defRPr>
            </a:pPr>
            <a:r>
              <a:rPr lang="en-US"/>
              <a:t>Cilindrada: 5.9 L</a:t>
            </a:r>
          </a:p>
          <a:p>
            <a:pPr>
              <a:lnSpc>
                <a:spcPts val="1352"/>
              </a:lnSpc>
              <a:spcBef>
                <a:spcPts val="0"/>
              </a:spcBef>
              <a:spcAft>
                <a:spcPts val="0"/>
              </a:spcAft>
              <a:defRPr sz="1118" b="0">
                <a:solidFill>
                  <a:srgbClr val="000000"/>
                </a:solidFill>
                <a:latin typeface="Arial"/>
              </a:defRPr>
            </a:pPr>
            <a:r>
              <a:rPr lang="en-US"/>
              <a:t>Diámetro del cilindro: 102 mm</a:t>
            </a:r>
          </a:p>
          <a:p>
            <a:pPr>
              <a:lnSpc>
                <a:spcPts val="1352"/>
              </a:lnSpc>
              <a:spcBef>
                <a:spcPts val="0"/>
              </a:spcBef>
              <a:spcAft>
                <a:spcPts val="0"/>
              </a:spcAft>
              <a:defRPr sz="1118" b="0">
                <a:solidFill>
                  <a:srgbClr val="000000"/>
                </a:solidFill>
                <a:latin typeface="Arial"/>
              </a:defRPr>
            </a:pPr>
            <a:r>
              <a:rPr lang="en-US"/>
              <a:t>Carrera del cilindro: 120 mm</a:t>
            </a:r>
          </a:p>
          <a:p>
            <a:pPr>
              <a:lnSpc>
                <a:spcPts val="1352"/>
              </a:lnSpc>
              <a:spcBef>
                <a:spcPts val="0"/>
              </a:spcBef>
              <a:spcAft>
                <a:spcPts val="0"/>
              </a:spcAft>
              <a:defRPr sz="1118" b="0">
                <a:solidFill>
                  <a:srgbClr val="000000"/>
                </a:solidFill>
                <a:latin typeface="Arial"/>
              </a:defRPr>
            </a:pPr>
            <a:r>
              <a:rPr lang="en-US"/>
              <a:t>Potencia: 210 HP (155 kW) a 2.500 rpm</a:t>
            </a:r>
          </a:p>
          <a:p>
            <a:pPr>
              <a:lnSpc>
                <a:spcPts val="1352"/>
              </a:lnSpc>
              <a:spcBef>
                <a:spcPts val="0"/>
              </a:spcBef>
              <a:spcAft>
                <a:spcPts val="0"/>
              </a:spcAft>
              <a:defRPr sz="1118" b="0">
                <a:solidFill>
                  <a:srgbClr val="000000"/>
                </a:solidFill>
                <a:latin typeface="Arial"/>
              </a:defRPr>
            </a:pPr>
            <a:r>
              <a:rPr lang="en-US"/>
              <a:t>Torque: 670 Nm a 1.500 rpm</a:t>
            </a:r>
          </a:p>
          <a:p>
            <a:pPr>
              <a:lnSpc>
                <a:spcPts val="1352"/>
              </a:lnSpc>
              <a:spcBef>
                <a:spcPts val="0"/>
              </a:spcBef>
              <a:spcAft>
                <a:spcPts val="0"/>
              </a:spcAft>
              <a:defRPr sz="1118" b="0">
                <a:solidFill>
                  <a:srgbClr val="000000"/>
                </a:solidFill>
                <a:latin typeface="Arial"/>
              </a:defRPr>
            </a:pPr>
            <a:r>
              <a:rPr lang="en-US"/>
              <a:t>Norma de emisión: Euro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7928" y="4067260"/>
            <a:ext cx="3424888" cy="2711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525"/>
              </a:lnSpc>
              <a:spcBef>
                <a:spcPts val="0"/>
              </a:spcBef>
              <a:spcAft>
                <a:spcPts val="0"/>
              </a:spcAft>
              <a:defRPr sz="1220" b="1">
                <a:solidFill>
                  <a:srgbClr val="D71920"/>
                </a:solidFill>
                <a:latin typeface="Arial"/>
              </a:defRPr>
            </a:pPr>
            <a:r>
              <a:rPr lang="en-US"/>
              <a:t>PESOS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7928" y="4364235"/>
            <a:ext cx="3424888" cy="5926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352"/>
              </a:lnSpc>
              <a:spcBef>
                <a:spcPts val="0"/>
              </a:spcBef>
              <a:spcAft>
                <a:spcPts val="0"/>
              </a:spcAft>
              <a:defRPr sz="1118" b="0">
                <a:solidFill>
                  <a:srgbClr val="000000"/>
                </a:solidFill>
                <a:latin typeface="Arial"/>
              </a:defRPr>
            </a:pPr>
            <a:r>
              <a:rPr lang="es-ES"/>
              <a:t>Tara: 5.570 kg</a:t>
            </a:r>
          </a:p>
          <a:p>
            <a:pPr>
              <a:lnSpc>
                <a:spcPts val="1352"/>
              </a:lnSpc>
              <a:spcBef>
                <a:spcPts val="0"/>
              </a:spcBef>
              <a:spcAft>
                <a:spcPts val="0"/>
              </a:spcAft>
              <a:defRPr sz="1118" b="0">
                <a:solidFill>
                  <a:srgbClr val="000000"/>
                </a:solidFill>
                <a:latin typeface="Arial"/>
              </a:defRPr>
            </a:pPr>
            <a:r>
              <a:rPr lang="es-ES"/>
              <a:t>Peso bruto vehicular: 17.000 kg</a:t>
            </a:r>
          </a:p>
          <a:p>
            <a:pPr>
              <a:lnSpc>
                <a:spcPts val="1352"/>
              </a:lnSpc>
              <a:spcBef>
                <a:spcPts val="0"/>
              </a:spcBef>
              <a:spcAft>
                <a:spcPts val="0"/>
              </a:spcAft>
              <a:defRPr sz="1118" b="0">
                <a:solidFill>
                  <a:srgbClr val="000000"/>
                </a:solidFill>
                <a:latin typeface="Arial"/>
              </a:defRPr>
            </a:pPr>
            <a:r>
              <a:rPr lang="es-ES"/>
              <a:t>Capacidad de carga: 11.450 kg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499" y="5138951"/>
            <a:ext cx="3424888" cy="2711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525"/>
              </a:lnSpc>
              <a:spcBef>
                <a:spcPts val="0"/>
              </a:spcBef>
              <a:spcAft>
                <a:spcPts val="0"/>
              </a:spcAft>
              <a:defRPr sz="1220" b="1">
                <a:solidFill>
                  <a:srgbClr val="D71920"/>
                </a:solidFill>
                <a:latin typeface="Arial"/>
              </a:defRPr>
            </a:pPr>
            <a:r>
              <a:rPr lang="en-US"/>
              <a:t>TRANSMISIÓN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499" y="5435926"/>
            <a:ext cx="3424888" cy="76438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352"/>
              </a:lnSpc>
              <a:spcBef>
                <a:spcPts val="0"/>
              </a:spcBef>
              <a:spcAft>
                <a:spcPts val="0"/>
              </a:spcAft>
              <a:defRPr sz="1118" b="0">
                <a:solidFill>
                  <a:srgbClr val="000000"/>
                </a:solidFill>
                <a:latin typeface="Arial"/>
              </a:defRPr>
            </a:pPr>
            <a:r>
              <a:rPr lang="en-US"/>
              <a:t>Marca: Fast 7 &amp; Speed</a:t>
            </a:r>
          </a:p>
          <a:p>
            <a:pPr>
              <a:lnSpc>
                <a:spcPts val="1352"/>
              </a:lnSpc>
              <a:spcBef>
                <a:spcPts val="0"/>
              </a:spcBef>
              <a:spcAft>
                <a:spcPts val="0"/>
              </a:spcAft>
              <a:defRPr sz="1118" b="0">
                <a:solidFill>
                  <a:srgbClr val="000000"/>
                </a:solidFill>
                <a:latin typeface="Arial"/>
              </a:defRPr>
            </a:pPr>
            <a:r>
              <a:rPr lang="en-US"/>
              <a:t>Modelo: 8JS85TE-C OD</a:t>
            </a:r>
          </a:p>
          <a:p>
            <a:pPr>
              <a:lnSpc>
                <a:spcPts val="1352"/>
              </a:lnSpc>
              <a:spcBef>
                <a:spcPts val="0"/>
              </a:spcBef>
              <a:spcAft>
                <a:spcPts val="0"/>
              </a:spcAft>
              <a:defRPr sz="1118" b="0">
                <a:solidFill>
                  <a:srgbClr val="000000"/>
                </a:solidFill>
                <a:latin typeface="Arial"/>
              </a:defRPr>
            </a:pPr>
            <a:r>
              <a:rPr lang="en-US"/>
              <a:t>Tipo: Sincrónica</a:t>
            </a:r>
          </a:p>
          <a:p>
            <a:pPr>
              <a:lnSpc>
                <a:spcPts val="1352"/>
              </a:lnSpc>
              <a:spcBef>
                <a:spcPts val="0"/>
              </a:spcBef>
              <a:spcAft>
                <a:spcPts val="0"/>
              </a:spcAft>
              <a:defRPr sz="1118" b="0">
                <a:solidFill>
                  <a:srgbClr val="000000"/>
                </a:solidFill>
                <a:latin typeface="Arial"/>
              </a:defRPr>
            </a:pPr>
            <a:r>
              <a:rPr lang="en-US"/>
              <a:t>8 velocidades hacia adelante + 2 reversas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499" y="6430145"/>
            <a:ext cx="3424888" cy="2711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525"/>
              </a:lnSpc>
              <a:spcBef>
                <a:spcPts val="0"/>
              </a:spcBef>
              <a:spcAft>
                <a:spcPts val="0"/>
              </a:spcAft>
              <a:defRPr sz="1220" b="1">
                <a:solidFill>
                  <a:srgbClr val="D71920"/>
                </a:solidFill>
                <a:latin typeface="Arial"/>
              </a:defRPr>
            </a:pPr>
            <a:r>
              <a:rPr lang="en-US"/>
              <a:t>EMBRAGUE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499" y="6727119"/>
            <a:ext cx="3424888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352"/>
              </a:lnSpc>
              <a:spcBef>
                <a:spcPts val="0"/>
              </a:spcBef>
              <a:spcAft>
                <a:spcPts val="0"/>
              </a:spcAft>
              <a:defRPr sz="1118" b="0">
                <a:solidFill>
                  <a:srgbClr val="000000"/>
                </a:solidFill>
                <a:latin typeface="Arial"/>
              </a:defRPr>
            </a:pPr>
            <a:r>
              <a:rPr lang="en-US"/>
              <a:t>Tipo: Servoasistido / Diámetro: 395 mm</a:t>
            </a:r>
          </a:p>
          <a:p>
            <a:pPr>
              <a:lnSpc>
                <a:spcPts val="1352"/>
              </a:lnSpc>
              <a:spcBef>
                <a:spcPts val="0"/>
              </a:spcBef>
              <a:spcAft>
                <a:spcPts val="0"/>
              </a:spcAft>
              <a:defRPr sz="1118" b="0">
                <a:solidFill>
                  <a:srgbClr val="000000"/>
                </a:solidFill>
                <a:latin typeface="Arial"/>
              </a:defRPr>
            </a:pPr>
            <a:r>
              <a:rPr lang="en-US"/>
              <a:t>Control hidráulico </a:t>
            </a:r>
            <a:r>
              <a:t>con </a:t>
            </a:r>
            <a:r>
              <a:rPr lang="en-US"/>
              <a:t>impulsor de aire</a:t>
            </a:r>
          </a:p>
          <a:p>
            <a:pPr>
              <a:lnSpc>
                <a:spcPts val="1352"/>
              </a:lnSpc>
              <a:spcBef>
                <a:spcPts val="0"/>
              </a:spcBef>
              <a:spcAft>
                <a:spcPts val="0"/>
              </a:spcAft>
              <a:defRPr sz="1118" b="0">
                <a:solidFill>
                  <a:srgbClr val="000000"/>
                </a:solidFill>
                <a:latin typeface="Arial"/>
              </a:defRPr>
            </a:pPr>
            <a:r>
              <a:rPr lang="en-US"/>
              <a:t>Marca: SACHS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499" y="7385628"/>
            <a:ext cx="3424888" cy="2711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525"/>
              </a:lnSpc>
              <a:spcBef>
                <a:spcPts val="0"/>
              </a:spcBef>
              <a:spcAft>
                <a:spcPts val="0"/>
              </a:spcAft>
              <a:defRPr sz="1220" b="1">
                <a:solidFill>
                  <a:srgbClr val="D71920"/>
                </a:solidFill>
                <a:latin typeface="Arial"/>
              </a:defRPr>
            </a:pPr>
            <a:r>
              <a:rPr lang="en-US"/>
              <a:t>SISTEMA ELÉCTRICO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499" y="7682603"/>
            <a:ext cx="3424888" cy="5926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352"/>
              </a:lnSpc>
              <a:spcBef>
                <a:spcPts val="0"/>
              </a:spcBef>
              <a:spcAft>
                <a:spcPts val="0"/>
              </a:spcAft>
              <a:defRPr sz="1118" b="0">
                <a:solidFill>
                  <a:srgbClr val="000000"/>
                </a:solidFill>
                <a:latin typeface="Arial"/>
              </a:defRPr>
            </a:pPr>
            <a:r>
              <a:rPr lang="es-ES"/>
              <a:t>Batería: 24 V (2 baterías 12 V), 100 Ah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7928" y="5138951"/>
            <a:ext cx="3424888" cy="2711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525"/>
              </a:lnSpc>
              <a:spcBef>
                <a:spcPts val="0"/>
              </a:spcBef>
              <a:spcAft>
                <a:spcPts val="0"/>
              </a:spcAft>
              <a:defRPr sz="1220" b="1">
                <a:solidFill>
                  <a:srgbClr val="D71920"/>
                </a:solidFill>
                <a:latin typeface="Arial"/>
              </a:defRPr>
            </a:pPr>
            <a:r>
              <a:rPr lang="en-US"/>
              <a:t>SISTEMA COMBUSTIBLE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7928" y="5435926"/>
            <a:ext cx="3424888" cy="5926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352"/>
              </a:lnSpc>
              <a:spcBef>
                <a:spcPts val="0"/>
              </a:spcBef>
              <a:spcAft>
                <a:spcPts val="0"/>
              </a:spcAft>
              <a:defRPr sz="1118" b="0">
                <a:solidFill>
                  <a:srgbClr val="000000"/>
                </a:solidFill>
                <a:latin typeface="Arial"/>
              </a:defRPr>
            </a:pPr>
            <a:r>
              <a:rPr lang="es-ES"/>
              <a:t>2 tanques de acero, tapa con cerradura</a:t>
            </a:r>
          </a:p>
          <a:p>
            <a:pPr>
              <a:lnSpc>
                <a:spcPts val="1352"/>
              </a:lnSpc>
              <a:spcBef>
                <a:spcPts val="0"/>
              </a:spcBef>
              <a:spcAft>
                <a:spcPts val="0"/>
              </a:spcAft>
              <a:defRPr sz="1118" b="0">
                <a:solidFill>
                  <a:srgbClr val="000000"/>
                </a:solidFill>
                <a:latin typeface="Arial"/>
              </a:defRPr>
            </a:pPr>
            <a:r>
              <a:t>Capacidad: </a:t>
            </a:r>
            <a:r>
              <a:rPr lang="en-US"/>
              <a:t>700 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7928" y="6430145"/>
            <a:ext cx="3424888" cy="2711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525"/>
              </a:lnSpc>
              <a:spcBef>
                <a:spcPts val="0"/>
              </a:spcBef>
              <a:spcAft>
                <a:spcPts val="0"/>
              </a:spcAft>
              <a:defRPr sz="1220" b="1">
                <a:solidFill>
                  <a:srgbClr val="D71920"/>
                </a:solidFill>
                <a:latin typeface="Arial"/>
              </a:defRPr>
            </a:pPr>
            <a:r>
              <a:rPr lang="en-US"/>
              <a:t>SISTEMA DE FRENOS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7928" y="6727119"/>
            <a:ext cx="3424888" cy="76438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352"/>
              </a:lnSpc>
              <a:spcBef>
                <a:spcPts val="0"/>
              </a:spcBef>
              <a:spcAft>
                <a:spcPts val="0"/>
              </a:spcAft>
              <a:defRPr sz="1118" b="0">
                <a:solidFill>
                  <a:srgbClr val="000000"/>
                </a:solidFill>
                <a:latin typeface="Arial"/>
              </a:defRPr>
            </a:pPr>
            <a:r>
              <a:rPr lang="en-US"/>
              <a:t>Neumático, doble circuito a tambor</a:t>
            </a:r>
          </a:p>
          <a:p>
            <a:pPr>
              <a:lnSpc>
                <a:spcPts val="1352"/>
              </a:lnSpc>
              <a:spcBef>
                <a:spcPts val="0"/>
              </a:spcBef>
              <a:spcAft>
                <a:spcPts val="0"/>
              </a:spcAft>
              <a:defRPr sz="1118" b="0">
                <a:solidFill>
                  <a:srgbClr val="000000"/>
                </a:solidFill>
                <a:latin typeface="Arial"/>
              </a:defRPr>
            </a:pPr>
            <a:r>
              <a:rPr lang="en-US"/>
              <a:t>Freno </a:t>
            </a:r>
            <a:r>
              <a:t>de </a:t>
            </a:r>
            <a:r>
              <a:rPr lang="en-US"/>
              <a:t>escape </a:t>
            </a:r>
            <a:r>
              <a:t>de </a:t>
            </a:r>
            <a:r>
              <a:rPr lang="en-US"/>
              <a:t>motor</a:t>
            </a:r>
          </a:p>
          <a:p>
            <a:pPr>
              <a:lnSpc>
                <a:spcPts val="1352"/>
              </a:lnSpc>
              <a:spcBef>
                <a:spcPts val="0"/>
              </a:spcBef>
              <a:spcAft>
                <a:spcPts val="0"/>
              </a:spcAft>
              <a:defRPr sz="1118" b="0">
                <a:solidFill>
                  <a:srgbClr val="000000"/>
                </a:solidFill>
                <a:latin typeface="Arial"/>
              </a:defRPr>
            </a:pPr>
            <a:r>
              <a:rPr lang="en-US"/>
              <a:t>Freno </a:t>
            </a:r>
            <a:r>
              <a:t>de </a:t>
            </a:r>
            <a:r>
              <a:rPr lang="en-US"/>
              <a:t>estacionamiento </a:t>
            </a:r>
            <a:r>
              <a:t>de </a:t>
            </a:r>
            <a:r>
              <a:rPr lang="en-US"/>
              <a:t>resorte</a:t>
            </a:r>
          </a:p>
          <a:p>
            <a:pPr>
              <a:lnSpc>
                <a:spcPts val="1352"/>
              </a:lnSpc>
              <a:spcBef>
                <a:spcPts val="0"/>
              </a:spcBef>
              <a:spcAft>
                <a:spcPts val="0"/>
              </a:spcAft>
              <a:defRPr sz="1118" b="0">
                <a:solidFill>
                  <a:srgbClr val="000000"/>
                </a:solidFill>
                <a:latin typeface="Arial"/>
              </a:defRPr>
            </a:pPr>
            <a:r>
              <a:rPr lang="en-US"/>
              <a:t>en eje trasero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7928" y="7734251"/>
            <a:ext cx="3424888" cy="2711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525"/>
              </a:lnSpc>
              <a:spcBef>
                <a:spcPts val="0"/>
              </a:spcBef>
              <a:spcAft>
                <a:spcPts val="0"/>
              </a:spcAft>
              <a:defRPr sz="1220" b="1">
                <a:solidFill>
                  <a:srgbClr val="D71920"/>
                </a:solidFill>
                <a:latin typeface="Arial"/>
              </a:defRPr>
            </a:pPr>
            <a:r>
              <a:rPr lang="en-US"/>
              <a:t>VOLUMEN DE FLUIDOS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7928" y="8031225"/>
            <a:ext cx="3424888" cy="76438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352"/>
              </a:lnSpc>
              <a:spcBef>
                <a:spcPts val="0"/>
              </a:spcBef>
              <a:spcAft>
                <a:spcPts val="0"/>
              </a:spcAft>
              <a:defRPr sz="1118" b="0">
                <a:solidFill>
                  <a:srgbClr val="000000"/>
                </a:solidFill>
                <a:latin typeface="Arial"/>
              </a:defRPr>
            </a:pPr>
            <a:r>
              <a:rPr lang="es-ES"/>
              <a:t>No especificado en la ficha </a:t>
            </a:r>
            <a:r>
              <a:t>de </a:t>
            </a:r>
            <a:r>
              <a:rPr lang="en-US"/>
              <a:t>origen.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1714" y="9774337"/>
            <a:ext cx="559165" cy="21950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118"/>
              </a:lnSpc>
              <a:spcBef>
                <a:spcPts val="0"/>
              </a:spcBef>
              <a:spcAft>
                <a:spcPts val="0"/>
              </a:spcAft>
              <a:defRPr sz="915" b="0">
                <a:solidFill>
                  <a:srgbClr val="666666"/>
                </a:solidFill>
                <a:latin typeface="Arial"/>
              </a:defRPr>
            </a:pPr>
            <a:r>
              <a:rPr lang="en-US"/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603266" y="41910"/>
            <a:ext cx="1831491" cy="39212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rcRect l="9445" t="2482" r="10508" b="23404"/>
          <a:stretch>
            <a:fillRect/>
          </a:stretch>
        </p:blipFill>
        <p:spPr>
          <a:xfrm>
            <a:off x="464922" y="942584"/>
            <a:ext cx="6954589" cy="21438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2121" y="125729"/>
            <a:ext cx="4761470" cy="3911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5" b="1">
                <a:solidFill>
                  <a:srgbClr val="000000"/>
                </a:solidFill>
                <a:latin typeface="Arial"/>
              </a:defRPr>
            </a:pPr>
            <a:r>
              <a:t>DONGFENG VR210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2121" y="698500"/>
            <a:ext cx="4901513" cy="167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210"/>
              </a:lnSpc>
              <a:spcBef>
                <a:spcPts val="0"/>
              </a:spcBef>
              <a:spcAft>
                <a:spcPts val="0"/>
              </a:spcAft>
              <a:defRPr sz="992" b="0">
                <a:solidFill>
                  <a:srgbClr val="000000"/>
                </a:solidFill>
                <a:latin typeface="Arial"/>
              </a:defRPr>
            </a:pPr>
            <a:r>
              <a:t>CHASIS, DIMENSIONES Y CABINA · 12 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3850" y="461010"/>
            <a:ext cx="1596492" cy="167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210"/>
              </a:lnSpc>
              <a:spcBef>
                <a:spcPts val="0"/>
              </a:spcBef>
              <a:spcAft>
                <a:spcPts val="0"/>
              </a:spcAft>
              <a:defRPr sz="992" b="0">
                <a:solidFill>
                  <a:srgbClr val="000000"/>
                </a:solidFill>
                <a:latin typeface="Arial"/>
              </a:defRPr>
            </a:pPr>
            <a:r>
              <a:t>RIF: J-507655245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2121" y="3324860"/>
            <a:ext cx="3431059" cy="26542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323" b="1">
                <a:solidFill>
                  <a:srgbClr val="D71920"/>
                </a:solidFill>
                <a:latin typeface="Arial"/>
              </a:defRPr>
            </a:pPr>
            <a:r>
              <a:t>DIMENSIONES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2121" y="3646170"/>
            <a:ext cx="3431059" cy="13802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Longitud total: 8.750 mm</a:t>
            </a:r>
          </a:p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Ancho de cabina: 2.180 mm</a:t>
            </a:r>
          </a:p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Altura de cabina: 2.880 mm</a:t>
            </a:r>
          </a:p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Distancia entre ejes: 5.000 mm</a:t>
            </a:r>
          </a:p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Voladizo delantero: 1.370 mm</a:t>
            </a:r>
          </a:p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Voladizo trasero: 2.350 mm</a:t>
            </a:r>
          </a:p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Largo carrozable: 6.550 mm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2121" y="5168900"/>
            <a:ext cx="3431059" cy="26542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323" b="1">
                <a:solidFill>
                  <a:srgbClr val="D71920"/>
                </a:solidFill>
                <a:latin typeface="Arial"/>
              </a:defRPr>
            </a:pPr>
            <a:r>
              <a:t>COTAS DEL CHASIS (mm)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2121" y="5490210"/>
            <a:ext cx="3431059" cy="18836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A · Distancia entre ejes: 5.000</a:t>
            </a:r>
            <a:endParaRPr lang="en-US"/>
          </a:p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B · Voladizo trasero: 2.350</a:t>
            </a:r>
            <a:endParaRPr lang="en-US"/>
          </a:p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C · Longitud total: 8.750</a:t>
            </a:r>
            <a:endParaRPr lang="en-US"/>
          </a:p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D · Eje delantero a final cabina: 640</a:t>
            </a:r>
            <a:endParaRPr lang="en-US"/>
          </a:p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E · Altura del chasis en eje</a:t>
            </a:r>
            <a:endParaRPr lang="en-US"/>
          </a:p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     de tracción: 1.310</a:t>
            </a:r>
            <a:endParaRPr lang="en-US"/>
          </a:p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F · Voladizo delantero: 1.370</a:t>
            </a:r>
            <a:endParaRPr lang="en-US"/>
          </a:p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G · Ancho del eje trasero: 850</a:t>
            </a:r>
            <a:endParaRPr lang="en-US"/>
          </a:p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H · Altura total: 2.880</a:t>
            </a:r>
            <a:endParaRPr lang="en-US"/>
          </a:p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I · Largo carrozable: 6.550</a:t>
            </a:r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92121" y="7390129"/>
            <a:ext cx="3431059" cy="26542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323" b="1">
                <a:solidFill>
                  <a:srgbClr val="D71920"/>
                </a:solidFill>
                <a:latin typeface="Arial"/>
              </a:defRPr>
            </a:pPr>
            <a:r>
              <a:t>CABINA Y DIRECCIÓN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121" y="7711440"/>
            <a:ext cx="3431059" cy="1325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Sencilla con camarote / Tres asientos</a:t>
            </a:r>
          </a:p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Mecanismo abatible mecánico</a:t>
            </a:r>
          </a:p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Conductor: suspensión hidráulica</a:t>
            </a:r>
          </a:p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Suspensión mecánica con amortiguador</a:t>
            </a:r>
          </a:p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y espiral en la parte trasera</a:t>
            </a:r>
          </a:p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Dirección: Bosch, sistema hidráulico asistido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7271" y="3324860"/>
            <a:ext cx="3431059" cy="26542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323" b="1">
                <a:solidFill>
                  <a:srgbClr val="D71920"/>
                </a:solidFill>
                <a:latin typeface="Arial"/>
              </a:defRPr>
            </a:pPr>
            <a:r>
              <a:t>EJE DELANTERO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7271" y="3646170"/>
            <a:ext cx="3431059" cy="119303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Tipo: Elliott, sección doble T</a:t>
            </a:r>
          </a:p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Capacidad de carga: 6 t</a:t>
            </a:r>
          </a:p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Suspensión: Ballestas de 6 hojas</a:t>
            </a:r>
          </a:p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+ amortiguador</a:t>
            </a:r>
          </a:p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Rin de acero: Medida 22.5</a:t>
            </a:r>
          </a:p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Neumático: 295/80R22.5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7271" y="4987290"/>
            <a:ext cx="3431059" cy="26542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323" b="1">
                <a:solidFill>
                  <a:srgbClr val="D71920"/>
                </a:solidFill>
                <a:latin typeface="Arial"/>
              </a:defRPr>
            </a:pPr>
            <a:r>
              <a:t>EJE TRASERO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7271" y="5308600"/>
            <a:ext cx="3431059" cy="100583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Reducción simple, laminado a presión</a:t>
            </a:r>
          </a:p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Relación: 5.14 / Capacidad de carga: 10 t</a:t>
            </a:r>
          </a:p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Suspensión: Ballestas 10 + 8 hojas</a:t>
            </a:r>
          </a:p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Rin de acero: Medida 22.5</a:t>
            </a:r>
          </a:p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Neumático: 295/80R22.5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7271" y="6468110"/>
            <a:ext cx="3431059" cy="26542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323" b="1">
                <a:solidFill>
                  <a:srgbClr val="D71920"/>
                </a:solidFill>
                <a:latin typeface="Arial"/>
              </a:defRPr>
            </a:pPr>
            <a:r>
              <a:t>CHASIS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7271" y="6789420"/>
            <a:ext cx="3431059" cy="100583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Escalera reforzada, remachada</a:t>
            </a:r>
          </a:p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Ancho delantero y trasero: 850 mm</a:t>
            </a:r>
          </a:p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Perfil: alto 250 mm / ancho 80 mm</a:t>
            </a:r>
          </a:p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Espesor de hojas: 5 mm</a:t>
            </a:r>
          </a:p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Altura de chasis al piso: 1.310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7271" y="7934959"/>
            <a:ext cx="3431059" cy="26542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323" b="1">
                <a:solidFill>
                  <a:srgbClr val="D71920"/>
                </a:solidFill>
                <a:latin typeface="Arial"/>
              </a:defRPr>
            </a:pPr>
            <a:r>
              <a:t>CARACTERÍSTICAS INTERIORES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7271" y="8256270"/>
            <a:ext cx="3431059" cy="156743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Aire acondicionado / Vidrios manuales</a:t>
            </a:r>
          </a:p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Apertura y cierre de puerta manual</a:t>
            </a:r>
          </a:p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Velocímetro, tacómetro y odómetro</a:t>
            </a:r>
          </a:p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Indicadores: presión de aire y combustible</a:t>
            </a:r>
          </a:p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Amperímetro / Marcador de temperatura</a:t>
            </a:r>
          </a:p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Equipo de sonido / Claxon</a:t>
            </a:r>
          </a:p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Conductor: suspensión mecánica</a:t>
            </a:r>
          </a:p>
          <a:p>
            <a:pPr>
              <a:lnSpc>
                <a:spcPts val="1474"/>
              </a:lnSpc>
              <a:spcBef>
                <a:spcPts val="0"/>
              </a:spcBef>
              <a:spcAft>
                <a:spcPts val="0"/>
              </a:spcAft>
              <a:defRPr sz="1212" b="0">
                <a:solidFill>
                  <a:srgbClr val="000000"/>
                </a:solidFill>
                <a:latin typeface="Arial"/>
              </a:defRPr>
            </a:pPr>
            <a:r>
              <a:t>Cámara de reversa / Pantalla multifuncional</a:t>
            </a:r>
          </a:p>
        </p:txBody>
      </p:sp>
      <p:sp>
        <p:nvSpPr>
          <p:cNvPr id="22" name="Página web de Planchart Global"/>
          <p:cNvSpPr txBox="1"/>
          <p:nvPr/>
        </p:nvSpPr>
        <p:spPr>
          <a:xfrm>
            <a:off x="393192" y="9674352"/>
            <a:ext cx="3429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71920"/>
                </a:solidFill>
                <a:latin typeface="Arial"/>
                <a:hlinkClick r:id="rId5"/>
              </a:rPr>
              <a:t>www.planchartglobal.com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523</Words>
  <Application>Microsoft Office PowerPoint</Application>
  <PresentationFormat>Custom</PresentationFormat>
  <Paragraphs>101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vilken planchart</dc:creator>
  <cp:lastModifiedBy>vilken planchart</cp:lastModifiedBy>
  <cp:revision>2</cp:revision>
  <dcterms:created xsi:type="dcterms:W3CDTF">2026-10-19T04:02:27Z</dcterms:created>
  <dcterms:modified xsi:type="dcterms:W3CDTF">2026-10-19T05:42:02Z</dcterms:modified>
</cp:coreProperties>
</file>